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25" y="1589782"/>
            <a:ext cx="2190750" cy="371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80448" y="2199382"/>
            <a:ext cx="8831103" cy="838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sz="6000" b="0" i="0" u="none">
                <a:solidFill>
                  <a:srgbClr val="F8FAFC"/>
                </a:solidFill>
                <a:latin typeface="Outfit ExtraBold"/>
              </a:rPr>
              <a:t>Eco-Label Vision </a:t>
            </a:r>
            <a:r>
              <a:rPr sz="6000" b="0" i="0" u="none">
                <a:solidFill>
                  <a:srgbClr val="10B981"/>
                </a:solidFill>
                <a:latin typeface="Outfit ExtraBold"/>
              </a:rPr>
              <a:t>(BinIQ)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14687" y="3180457"/>
            <a:ext cx="576262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CBD5E1"/>
                </a:solidFill>
                <a:latin typeface="Inter"/>
              </a:rPr>
              <a:t>AI-Powered Circular Economy Smart Waste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81387" y="4070002"/>
            <a:ext cx="522922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0EA5E9"/>
                </a:solidFill>
                <a:latin typeface="Outfit Medium"/>
              </a:rPr>
              <a:t>"Snap. Classify. Guide. Reward. Transform Waste into Value."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2300" y="4820542"/>
            <a:ext cx="1819275" cy="4476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2075" y="4820542"/>
            <a:ext cx="1809750" cy="4476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2325" y="4820542"/>
            <a:ext cx="1857375" cy="4476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618357"/>
            <a:ext cx="5229225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618357"/>
            <a:ext cx="1533525" cy="1085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5050" y="1618357"/>
            <a:ext cx="1533525" cy="1085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9075" y="1618357"/>
            <a:ext cx="1781175" cy="1085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5825" y="3037582"/>
            <a:ext cx="49244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The 'Wish-Cycling' Trap: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Citizens toss questionable items into blue bins hoping they're recyclable, ruining massive high-purity bales.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4089052"/>
            <a:ext cx="49244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Resin Code Blindspot: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All clear plastics look visually identical. Tiny stamped RIC codes are overlooked, allowing toxic PVC to mix with circular PET.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5140523"/>
            <a:ext cx="49244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Municipal &amp; Climate Cost: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Lack of real-time visibility leads to massive manual sorting costs and destroyed embodied carbon.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1275" y="1627882"/>
            <a:ext cx="5210175" cy="37909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2950" y="1856482"/>
            <a:ext cx="120967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3000" b="0" i="0" u="none">
                <a:solidFill>
                  <a:srgbClr val="10B981"/>
                </a:solidFill>
                <a:latin typeface="Outfit ExtraBold"/>
              </a:rPr>
              <a:t>3.4B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2313682"/>
            <a:ext cx="1209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F8FAFC"/>
                </a:solidFill>
                <a:latin typeface="Inter SemiBold"/>
              </a:rPr>
              <a:t>TONNES WASTE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6975" y="1856482"/>
            <a:ext cx="120967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3000" b="0" i="0" u="none">
                <a:solidFill>
                  <a:srgbClr val="10B981"/>
                </a:solidFill>
                <a:latin typeface="Outfit ExtraBold"/>
              </a:rPr>
              <a:t>&gt;25%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6975" y="2313682"/>
            <a:ext cx="1209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F8FAFC"/>
                </a:solidFill>
                <a:latin typeface="Inter SemiBold"/>
              </a:rPr>
              <a:t>CONTAMINATION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1000" y="1856482"/>
            <a:ext cx="14573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3000" b="0" i="0" u="none">
                <a:solidFill>
                  <a:srgbClr val="10B981"/>
                </a:solidFill>
                <a:latin typeface="Outfit ExtraBold"/>
              </a:rPr>
              <a:t>$100M+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1000" y="2313682"/>
            <a:ext cx="14573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F8FAFC"/>
                </a:solidFill>
                <a:latin typeface="Inter SemiBold"/>
              </a:rPr>
              <a:t>SORTING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025" y="3056632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10B981"/>
                </a:solidFill>
                <a:latin typeface="Inter"/>
              </a:rPr>
              <a:t>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025" y="4108102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10B981"/>
                </a:solidFill>
                <a:latin typeface="Inter"/>
              </a:rPr>
              <a:t>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1025" y="5159573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10B981"/>
                </a:solidFill>
                <a:latin typeface="Inter"/>
              </a:rPr>
              <a:t>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Crisis of </a:t>
            </a:r>
            <a:r>
              <a:rPr sz="3600" b="1" i="0" u="none">
                <a:solidFill>
                  <a:srgbClr val="10B981"/>
                </a:solidFill>
                <a:latin typeface="Outfit"/>
              </a:rPr>
              <a:t>Wish-Cycling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01291"/>
            <a:ext cx="3486150" cy="38079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001291"/>
            <a:ext cx="3486150" cy="38079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001291"/>
            <a:ext cx="3486150" cy="38079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3925" y="3153816"/>
            <a:ext cx="294036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EA5E9"/>
                </a:solidFill>
                <a:latin typeface="Outfit SemiBold"/>
              </a:rPr>
              <a:t>Real-Time AI Scanner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630066"/>
            <a:ext cx="2800350" cy="1645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Webcam &amp; mobile live image analysis. The MobileNetV3-Small classifier predicts waste categories in ~24 ms, providing instant feedback and a visual confidence meter.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95825" y="3153816"/>
            <a:ext cx="294036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0B981"/>
                </a:solidFill>
                <a:latin typeface="Outfit SemiBold"/>
              </a:rPr>
              <a:t>OCR Resin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5825" y="3630066"/>
            <a:ext cx="2800350" cy="1645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EasyOCR decodes stamped RIC 1-7 plastic codes. Effectively differentiates high-value recyclable PET/HDPE from toxic PVC/PS contaminants before they enter the bin.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67725" y="3153816"/>
            <a:ext cx="294036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8B5CF6"/>
                </a:solidFill>
                <a:latin typeface="Outfit SemiBold"/>
              </a:rPr>
              <a:t>Municipal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7725" y="3630066"/>
            <a:ext cx="2800350" cy="1645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Live city-wide dashboard displaying recycling purity &amp; diversion KPIs. Includes interactive OpenStreetMap locators and localized waste composition breakdowns.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2439441"/>
            <a:ext cx="428625" cy="4286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5825" y="2439441"/>
            <a:ext cx="428625" cy="4286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725" y="2439441"/>
            <a:ext cx="485775" cy="4286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Circular Intelligence </a:t>
            </a:r>
            <a:r>
              <a:rPr sz="3600" b="1" i="0" u="none">
                <a:solidFill>
                  <a:srgbClr val="10B981"/>
                </a:solidFill>
                <a:latin typeface="Outfit"/>
              </a:rPr>
              <a:t>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771525"/>
            <a:ext cx="534066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System </a:t>
            </a:r>
            <a:r>
              <a:rPr sz="3600" b="1" i="0" u="none">
                <a:solidFill>
                  <a:srgbClr val="10B981"/>
                </a:solidFill>
                <a:latin typeface="Outfit"/>
              </a:rPr>
              <a:t>Architecture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9525"/>
            <a:ext cx="584835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1724025"/>
            <a:ext cx="112395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1525" y="2105025"/>
            <a:ext cx="50863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React 18 + Vite, Tailwind CSS dark UI, Framer Motion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617440"/>
            <a:ext cx="211455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1525" y="2998440"/>
            <a:ext cx="50863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High-performance Python 3.11 REST API via FastAPI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3510855"/>
            <a:ext cx="180975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1525" y="3891855"/>
            <a:ext cx="50863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PyTorch 2.x, MobileNetV3-Small, EasyOCR (CRAFT+CRNN)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4404270"/>
            <a:ext cx="211455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1525" y="4785270"/>
            <a:ext cx="50863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Rule-based logic synthesizing AI categorization &amp; carbon savings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5571976"/>
            <a:ext cx="2038350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1525" y="5952976"/>
            <a:ext cx="50863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SQLite / SQLAlchemy for scan history and municipal aggregates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802308"/>
            <a:ext cx="522922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5825" y="1802308"/>
            <a:ext cx="49244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MobileNetV3 Performance: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Achieves an impressive 80.39% Test Set Accuracy with ultra-low 23.6 ms inference latency on standard CPUs.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825" y="2853779"/>
            <a:ext cx="49244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Strategic Class Balancing: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WeightedRandomSampler ensures high detection sensitivity across 9 stratified classes, preventing rare waste misclassification.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905250"/>
            <a:ext cx="49244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Resin Code Extraction: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EasyOCR pipeline automatically locates and decodes tiny stamped plastic polymer numbers (RIC 1-7).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4956720"/>
            <a:ext cx="49244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Critical Filtration: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Instantly sorts Highly Recyclable PET (#1) and HDPE (#2) away from Landfill-bound PVC (#3) and PS (#6).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811833"/>
            <a:ext cx="5210175" cy="3790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1821358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10B981"/>
                </a:solidFill>
                <a:latin typeface="Inter"/>
              </a:rPr>
              <a:t>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2872829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10B981"/>
                </a:solidFill>
                <a:latin typeface="Inter"/>
              </a:rPr>
              <a:t>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3924300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10B981"/>
                </a:solidFill>
                <a:latin typeface="Inter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975770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10B981"/>
                </a:solidFill>
                <a:latin typeface="Inter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AI &amp; OCR </a:t>
            </a:r>
            <a:r>
              <a:rPr sz="3600" b="1" i="0" u="none">
                <a:solidFill>
                  <a:srgbClr val="10B981"/>
                </a:solidFill>
                <a:latin typeface="Outfit"/>
              </a:rPr>
              <a:t>Detection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802308"/>
            <a:ext cx="522922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5825" y="1802308"/>
            <a:ext cx="49244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Cross-Device Accessibility: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Runs instantly directly in any mobile or desktop browser via webcam—zero app store installation required.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825" y="2853779"/>
            <a:ext cx="49244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Voice Synthesis Guidance: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Web Speech API provides step-by-step audio instructions (e.g., 'Rinse bottle and toss into Blue Bin') for a hands-free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905250"/>
            <a:ext cx="49244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Carbon Impact Tag: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Displays a computed CO2 offset per scanned item (e.g., Metal +0.12 kg), directly linking citizen actions to broader climate goals.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4956720"/>
            <a:ext cx="49244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Transparent Confidence: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Exposes top-3 probability breakdown metrics, maintaining trust and educating the user on uncertain classifications.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811833"/>
            <a:ext cx="5210175" cy="3790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1821358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10B981"/>
                </a:solidFill>
                <a:latin typeface="Inter"/>
              </a:rPr>
              <a:t>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2872829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10B981"/>
                </a:solidFill>
                <a:latin typeface="Inter"/>
              </a:rPr>
              <a:t>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3924300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10B981"/>
                </a:solidFill>
                <a:latin typeface="Inter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975770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10B981"/>
                </a:solidFill>
                <a:latin typeface="Inter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Instant </a:t>
            </a:r>
            <a:r>
              <a:rPr sz="3600" b="1" i="0" u="none">
                <a:solidFill>
                  <a:srgbClr val="10B981"/>
                </a:solidFill>
                <a:latin typeface="Outfit"/>
              </a:rPr>
              <a:t>Citizen Experience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637" y="2000250"/>
            <a:ext cx="3810000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9687" y="2019300"/>
            <a:ext cx="3771900" cy="3771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86550" y="2327969"/>
            <a:ext cx="49244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Smart Recycling Locator: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OpenStreetMap &amp; Overpass API integration locates the nearest recycling depots and e-waste facilities using real-time GPS routing.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86550" y="3379440"/>
            <a:ext cx="49244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Citizen Incident Reporting: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Users can upload geotagged photos to seamlessly report overflowing bins or illegal dumping directly to local municipal response teams.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86550" y="4430910"/>
            <a:ext cx="49244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Google Gemini AI Chat: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Integrated AI assistant provides immediate natural language advice for tricky edge cases, upcycling ideas, and home composting instructions.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1750" y="2347019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10B981"/>
                </a:solidFill>
                <a:latin typeface="Inter"/>
              </a:rPr>
              <a:t>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0" y="3398490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10B981"/>
                </a:solidFill>
                <a:latin typeface="Inter"/>
              </a:rPr>
              <a:t>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750" y="4449960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10B981"/>
                </a:solidFill>
                <a:latin typeface="Inter"/>
              </a:rPr>
              <a:t>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Community &amp; </a:t>
            </a:r>
            <a:r>
              <a:rPr sz="3600" b="1" i="0" u="none">
                <a:solidFill>
                  <a:srgbClr val="10B981"/>
                </a:solidFill>
                <a:latin typeface="Outfit"/>
              </a:rPr>
              <a:t>AI Assistant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533525"/>
            <a:ext cx="11029950" cy="4743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09750" y="5512147"/>
            <a:ext cx="8572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Live city-wide analytics track recycling purity rates, total waste diverted, and temporal disposal peaks. This targeted operational data optimizes truck routing and saves millions in landfill tipping fees.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Municipal </a:t>
            </a:r>
            <a:r>
              <a:rPr sz="3600" b="1" i="0" u="none">
                <a:solidFill>
                  <a:srgbClr val="10B981"/>
                </a:solidFill>
                <a:latin typeface="Outfit"/>
              </a:rPr>
              <a:t>Intelligence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087933"/>
            <a:ext cx="522922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087933"/>
            <a:ext cx="549068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EA5E9"/>
                </a:solidFill>
                <a:latin typeface="Outfit SemiBold"/>
              </a:rPr>
              <a:t>Measurable Environmental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3867150"/>
            <a:ext cx="549068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0B981"/>
                </a:solidFill>
                <a:latin typeface="Outfit SemiBold"/>
              </a:rPr>
              <a:t>Phase 2 &amp; 3 Innovation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1611808"/>
            <a:ext cx="49244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UN SDGs Achieved: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Directly advances SDG 11 (Sustainable Cities), SDG 12 (Responsible Consumption), and SDG 13 (Climate Action).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2663279"/>
            <a:ext cx="49244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Carbon Offset Metrics: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Safely prevents virgin petroleum extraction by saving ~0.08 kg CO2 per plastic and ~0.12 kg CO2 per metal item.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4391025"/>
            <a:ext cx="49244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IoT Smart Bin Hardware: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Edge AI (Jetson Nano) integration with automated sorting servos.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5168205"/>
            <a:ext cx="49244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Advanced Segmentation: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YOLOv11 upgrades for multi-item clutter detection.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5945385"/>
            <a:ext cx="49244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Enterprise Auditing: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Deploying watsonx.ai (IBM Granite) for automated commercial compliance reports.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097458"/>
            <a:ext cx="5210175" cy="37909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1025" y="1630858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10B981"/>
                </a:solidFill>
                <a:latin typeface="Inter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2682329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10B981"/>
                </a:solidFill>
                <a:latin typeface="Inter"/>
              </a:rPr>
              <a:t>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4410075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10B981"/>
                </a:solidFill>
                <a:latin typeface="Inter"/>
              </a:rPr>
              <a:t>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5187255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10B981"/>
                </a:solidFill>
                <a:latin typeface="Inter"/>
              </a:rPr>
              <a:t>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5964435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10B981"/>
                </a:solidFill>
                <a:latin typeface="Inter"/>
              </a:rPr>
              <a:t>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025" y="135433"/>
            <a:ext cx="1158144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Impact &amp; </a:t>
            </a:r>
            <a:r>
              <a:rPr sz="3600" b="1" i="0" u="none">
                <a:solidFill>
                  <a:srgbClr val="10B981"/>
                </a:solidFill>
                <a:latin typeface="Outfit"/>
              </a:rPr>
              <a:t>Future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676</Words>
  <Application>Microsoft Office PowerPoint</Application>
  <PresentationFormat>Widescreen</PresentationFormat>
  <Paragraphs>69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Calibri</vt:lpstr>
      <vt:lpstr>Inter</vt:lpstr>
      <vt:lpstr>Inter SemiBold</vt:lpstr>
      <vt:lpstr>Outfit</vt:lpstr>
      <vt:lpstr>Outfit ExtraBold</vt:lpstr>
      <vt:lpstr>Outfit Medium</vt:lpstr>
      <vt:lpstr>Outfit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ANSHIKA BADALA</dc:creator>
  <cp:keywords/>
  <dc:description>generated using python-pptx</dc:description>
  <cp:lastModifiedBy>25AIML002 ANSHIKA BADALA</cp:lastModifiedBy>
  <cp:revision>2</cp:revision>
  <dcterms:created xsi:type="dcterms:W3CDTF">2013-01-27T09:14:16Z</dcterms:created>
  <dcterms:modified xsi:type="dcterms:W3CDTF">2026-09-15T17:18:12Z</dcterms:modified>
  <cp:category/>
</cp:coreProperties>
</file>